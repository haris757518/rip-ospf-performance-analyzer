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0C2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AF9D"/>
                </a:solidFill>
              </a:defRPr>
            </a:pPr>
            <a:r>
              <a:t>VIT  •  BITE305L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RIP vs OSPF</a:t>
            </a:r>
            <a:br/>
            <a:r>
              <a:t>Routing Protocol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519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CCE3F5"/>
                </a:solidFill>
              </a:defRPr>
            </a:pPr>
            <a:r>
              <a:t>Cisco Packet Tracer  +  Python 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E3F5"/>
                </a:solidFill>
              </a:defRPr>
            </a:pPr>
            <a:r>
              <a:t>Implementation demonstration • experimental evidence to be collected in Packet Tracer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Why do we compare dynamic routing?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07040" cy="1051560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67A1"/>
                </a:solidFill>
              </a:defRPr>
            </a:pPr>
            <a:r>
              <a:t>Link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36192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C213B"/>
                </a:solidFill>
              </a:defRPr>
            </a:pPr>
            <a:r>
              <a:t>Communication may stop when the preferred router-to-router link becomes unavailable.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43200"/>
            <a:ext cx="10607040" cy="1051560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67A1"/>
                </a:solidFill>
              </a:defRPr>
            </a:pPr>
            <a:r>
              <a:t>Different route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862072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C213B"/>
                </a:solidFill>
              </a:defRPr>
            </a:pPr>
            <a:r>
              <a:t>RIPv2 prioritizes hop count, while OSPF uses accumulated interface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69080"/>
            <a:ext cx="10607040" cy="1051560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767A1"/>
                </a:solidFill>
              </a:defRPr>
            </a:pPr>
            <a:r>
              <a:t>Need for objective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187952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C213B"/>
                </a:solidFill>
              </a:defRPr>
            </a:pPr>
            <a:r>
              <a:t>We need identical topologies and repeatable experiments to compare recovery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5 routers • 2 switches • 2 end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pic>
        <p:nvPicPr>
          <p:cNvPr id="6" name="Picture 5" descr="network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10881360" cy="4191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7424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767A1"/>
                </a:solidFill>
              </a:defRPr>
            </a:pPr>
            <a:r>
              <a:t>Upper route: 2 hops   |   Lower route: 3 hops   |   Controlled link: R2 – R4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How the two protocols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Two protocols, one controlled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74920" cy="3383280"/>
          </a:xfrm>
          <a:prstGeom prst="roundRect">
            <a:avLst/>
          </a:prstGeom>
          <a:solidFill>
            <a:srgbClr val="EC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836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767A1"/>
                </a:solidFill>
              </a:defRPr>
            </a:pPr>
            <a:r>
              <a:t>RIPv2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C213B"/>
                </a:solidFill>
              </a:defRPr>
            </a:pPr>
            <a:r>
              <a:t>Distance vector</a:t>
            </a:r>
            <a:br/>
            <a:r>
              <a:t>Advertises routes to neighbors</a:t>
            </a:r>
            <a:br/>
            <a:r>
              <a:t>Metric: hop count</a:t>
            </a:r>
            <a:br/>
            <a:r>
              <a:t>Hop-minimal expected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074920" cy="3383280"/>
          </a:xfrm>
          <a:prstGeom prst="roundRect">
            <a:avLst/>
          </a:prstGeom>
          <a:solidFill>
            <a:srgbClr val="EC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883664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2AF9D"/>
                </a:solidFill>
              </a:defRPr>
            </a:pPr>
            <a:r>
              <a:t>OSPFv2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74320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C213B"/>
                </a:solidFill>
              </a:defRPr>
            </a:pPr>
            <a:r>
              <a:t>Link state</a:t>
            </a:r>
            <a:br/>
            <a:r>
              <a:t>Shortest-path-first computation</a:t>
            </a:r>
            <a:br/>
            <a:r>
              <a:t>Metric: sum of interface costs</a:t>
            </a:r>
            <a:br/>
            <a:r>
              <a:t>Can favor a longer-hop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86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E7185"/>
                </a:solidFill>
              </a:defRPr>
            </a:pPr>
            <a:r>
              <a:t>This project compares protocols; it does not invent a new routing algorithm.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Experiment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Paired tests for RIP and OSPF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53312"/>
            <a:ext cx="10607040" cy="941832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517904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AF9D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153619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67A1"/>
                </a:solidFill>
              </a:defRPr>
            </a:pPr>
            <a: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53619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Confirm initial route and connectivity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96312"/>
            <a:ext cx="10607040" cy="941832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660904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AF9D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1952" y="267919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67A1"/>
                </a:solidFill>
              </a:defRPr>
            </a:pPr>
            <a:r>
              <a:t>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919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Shutdown R2 Gi0/1; check backup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39312"/>
            <a:ext cx="10607040" cy="941832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3803904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AF9D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1952" y="3822191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67A1"/>
                </a:solidFill>
              </a:defRPr>
            </a:pPr>
            <a:r>
              <a:t>Restoration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22191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Restore R2–R4 and observe preferred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82312"/>
            <a:ext cx="10607040" cy="941832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946904"/>
            <a:ext cx="685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AF9D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965192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767A1"/>
                </a:solidFill>
              </a:defRPr>
            </a:pPr>
            <a:r>
              <a:t>Cost demonstration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65192"/>
            <a:ext cx="6492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OSPF upper cost 100 vs lower cost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Python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Six screens turn configuration into an explainable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73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2257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Problem and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5448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773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Topology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232257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Calculated expected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55448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177393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32257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CLI commands and methodology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38770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Measurements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442569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CSV validation and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65760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38770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Algorithms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442569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BFS/Dijkstra calculation trace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657600"/>
            <a:ext cx="3429000" cy="1664208"/>
          </a:xfrm>
          <a:prstGeom prst="roundRect">
            <a:avLst/>
          </a:prstGeom>
          <a:solidFill>
            <a:srgbClr val="E8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3877056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767A1"/>
                </a:solidFill>
              </a:defRPr>
            </a:pPr>
            <a:r>
              <a:t>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4425696"/>
            <a:ext cx="3017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C213B"/>
                </a:solidFill>
              </a:defRPr>
            </a:pPr>
            <a:r>
              <a:t>Evidence checklist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Results: evidence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No fabricated convergence-time or packet-loss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81328"/>
            <a:ext cx="10607040" cy="3200400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78308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767A1"/>
                </a:solidFill>
              </a:defRPr>
            </a:pPr>
            <a:r>
              <a:t>Observed results are entered through a CSV worksheet.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60320"/>
            <a:ext cx="9555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0C213B"/>
                </a:solidFill>
              </a:defRPr>
            </a:pPr>
            <a:r>
              <a:t>Required evidence: route tables, failed-link transitions, recovered routes, ICMP counts, and clearly defined timing basis. The dashboard generates charts only after data is recorded.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6636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E7185"/>
                </a:solidFill>
              </a:defRPr>
            </a:pPr>
            <a:r>
              <a:t>Important: Packet Tracer paths must be tested on a real Packet Tracer installation.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118872"/>
          </a:xfrm>
          <a:prstGeom prst="roundRect">
            <a:avLst/>
          </a:prstGeom>
          <a:solidFill>
            <a:srgbClr val="12AF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0C213B"/>
                </a:solidFill>
              </a:defRPr>
            </a:pPr>
            <a:r>
              <a:t>What is already built vs still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E7185"/>
                </a:solidFill>
              </a:defRPr>
            </a:pPr>
            <a:r>
              <a:t>Clear completion status for the final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104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E7185"/>
                </a:solidFill>
              </a:defRPr>
            </a:pPr>
            <a:r>
              <a:t>BITE305L  •  COMPUTER NETWORKS  •  RIP vs OSPF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166360" cy="4480560"/>
          </a:xfrm>
          <a:prstGeom prst="roundRect">
            <a:avLst/>
          </a:prstGeom>
          <a:solidFill>
            <a:srgbClr val="E6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007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8466"/>
                </a:solidFill>
              </a:defRPr>
            </a:pPr>
            <a: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• 5-router IP plan and CLI configs</a:t>
            </a:r>
            <a:br/>
            <a:r>
              <a:t>• Separate RIP/OSPF config sets</a:t>
            </a:r>
            <a:br/>
            <a:r>
              <a:t>• Streamlit dashboard source</a:t>
            </a:r>
            <a:br/>
            <a:r>
              <a:t>• Routing model with unit tests</a:t>
            </a:r>
            <a:br/>
            <a:r>
              <a:t>• Blank CSV + report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166360" cy="4480560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00784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B6911"/>
                </a:solidFill>
              </a:defRPr>
            </a:pPr>
            <a:r>
              <a:t>REQUIRES PACKET TRACER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434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0C213B"/>
                </a:solidFill>
              </a:defRPr>
            </a:pPr>
            <a:r>
              <a:t>• Save and verify both .pkt files</a:t>
            </a:r>
            <a:br/>
            <a:r>
              <a:t>• Execute 3 matched test runs</a:t>
            </a:r>
            <a:br/>
            <a:r>
              <a:t>• Capture real screenshots</a:t>
            </a:r>
            <a:br/>
            <a:r>
              <a:t>• Record actual metric values</a:t>
            </a:r>
            <a:br/>
            <a:r>
              <a:t>• Verify 15 recent papers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